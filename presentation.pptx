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4" r:id="rId15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9.xml"/><Relationship Id="rId15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818CF8"/>
                </a:solidFill>
                <a:latin typeface="Calibri"/>
              </a:defRPr>
            </a:pPr>
            <a:r>
              <a:t>ENGINEERING LEADERSHIP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484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0F0F5"/>
                </a:solidFill>
                <a:latin typeface="Calibri"/>
              </a:defRPr>
            </a:pPr>
            <a:r>
              <a:t>Autonomous Security</a:t>
            </a:r>
            <a:br/>
            <a:r>
              <a:t>Remediation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840480"/>
            <a:ext cx="7619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A3AF"/>
                </a:solidFill>
                <a:latin typeface="Calibri"/>
              </a:defRPr>
            </a:pPr>
            <a:r>
              <a:t>Transforming security debt from a manual bottleneck</a:t>
            </a:r>
            <a:br/>
            <a:r>
              <a:t>into an automated utility.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4937760"/>
            <a:ext cx="7619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Torrance Fredell  ·  Powered by Devin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Calibri"/>
              </a:defRPr>
            </a:pPr>
            <a:r>
              <a:t>01 /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18CF8"/>
                </a:solidFill>
                <a:latin typeface="Calibri"/>
              </a:defRPr>
            </a:pPr>
            <a:r>
              <a:t>MEET THE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0F0F5"/>
                </a:solidFill>
                <a:latin typeface="Calibri"/>
              </a:defRPr>
            </a:pPr>
            <a:r>
              <a:t>What Is Devin?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783080"/>
            <a:ext cx="45720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Calibri"/>
              </a:defRPr>
            </a:pPr>
            <a:r>
              <a:t>Devin is not autocomplete. It is a cloud-native remote coworker — an asynchronous</a:t>
            </a:r>
            <a:br/>
            <a:r>
              <a:t>software engineer that manages its own VM, terminal, browser, and development environment.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383280"/>
            <a:ext cx="3200400" cy="210312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3566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🖥️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3886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Own 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420624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Spins up an isolated VM with shell access, file system, and a full browser — no shared context, no side effects.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3383280"/>
            <a:ext cx="3200400" cy="210312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3566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3886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Fully Asynchronous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420624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Runs in the background while your team ships features. Picks up work from an API call; delivers Pull Requests.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3383280"/>
            <a:ext cx="3200400" cy="210312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566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3886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API-Driven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20624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Programmatically create sessions, pass structured prompts, and orchestrate work — just like any microservice.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Calibri"/>
              </a:defRPr>
            </a:pPr>
            <a:r>
              <a:t>AUTONOMOUS SECURITY REMEDIATION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Calibri"/>
              </a:defRPr>
            </a:pPr>
            <a:r>
              <a:t>02 /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18CF8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0F0F5"/>
                </a:solidFill>
                <a:latin typeface="Calibri"/>
              </a:defRPr>
            </a:pPr>
            <a:r>
              <a:t>Security vs. Velocity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783080"/>
            <a:ext cx="45720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  <a:latin typeface="Calibri"/>
              </a:defRPr>
            </a:pPr>
            <a:r>
              <a:t>Security debt is the invisible tax on every sprint. Every alert in the backlog is a sprint killer</a:t>
            </a:r>
            <a:br/>
            <a:r>
              <a:t>for engineers pulled off feature work — and a token burner for organizations paying senior talent to write boilerplate fixes.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200400"/>
            <a:ext cx="4754880" cy="292608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3200400"/>
            <a:ext cx="4754880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383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87171"/>
                </a:solidFill>
                <a:latin typeface="Calibri"/>
              </a:defRPr>
            </a:pPr>
            <a:r>
              <a:t>TODAY'S REALITY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7490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✕  CodeQL fires an alert at 2 AM — sits untriaged for 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1605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✕  Senior engineer context-switches off green-field feature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72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✕  Spends 45 min reading the advisory, 10 min writing the fix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98348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✕  Brown-field maintenance erodes team morale and velocity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9496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✕  Repeat across dozens of alerts per quarter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200400"/>
            <a:ext cx="4754880" cy="292608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3200400"/>
            <a:ext cx="475488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383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4D399"/>
                </a:solidFill>
                <a:latin typeface="Calibri"/>
              </a:defRPr>
            </a:pPr>
            <a:r>
              <a:t>THE OPPORTUNITY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7490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✓  80% of security fixes are deterministic and well-documented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1605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✓  Pattern: read advisory → locate code → apply known fix →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572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✓  This is exactly the work agents excel 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98348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✓  Engineers stay in flow on high-value feature development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39496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✓  Security becomes a utility, not an interrupt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Calibri"/>
              </a:defRPr>
            </a:pPr>
            <a:r>
              <a:t>AUTONOMOUS SECURITY REMEDIATION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Calibri"/>
              </a:defRPr>
            </a:pPr>
            <a:r>
              <a:t>03 /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18CF8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0F0F5"/>
                </a:solidFill>
                <a:latin typeface="Calibri"/>
              </a:defRPr>
            </a:pPr>
            <a:r>
              <a:t>The Event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783080"/>
            <a:ext cx="45720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Calibri"/>
              </a:defRPr>
            </a:pPr>
            <a:r>
              <a:t>A fully automated pipeline from vulnerability detection to verified Pull Request. Zero human intervention required.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80"/>
            <a:ext cx="1554480" cy="137160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0632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0F0F5"/>
                </a:solidFill>
                <a:latin typeface="Calibri"/>
              </a:defRPr>
            </a:pPr>
            <a:r>
              <a:t>🛡️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74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Calibri"/>
              </a:defRPr>
            </a:pPr>
            <a:r>
              <a:t>CodeQL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490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Calibri"/>
              </a:defRPr>
            </a:pPr>
            <a:r>
              <a:t>Static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3246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18CF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0" y="2926080"/>
            <a:ext cx="1554480" cy="137160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30632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0F0F5"/>
                </a:solidFill>
                <a:latin typeface="Calibri"/>
              </a:defRPr>
            </a:pPr>
            <a:r>
              <a:t>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474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Calibri"/>
              </a:defRPr>
            </a:pPr>
            <a:r>
              <a:t>GitHub Webhook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7490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Calibri"/>
              </a:defRPr>
            </a:pPr>
            <a:r>
              <a:t>code_scanning_alert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246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18CF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0" y="2926080"/>
            <a:ext cx="1554480" cy="137160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0" y="30632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0F0F5"/>
                </a:solidFill>
                <a:latin typeface="Calibri"/>
              </a:defRPr>
            </a:pPr>
            <a:r>
              <a:t>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3474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Calibri"/>
              </a:defRPr>
            </a:pPr>
            <a:r>
              <a:t>FastAPI Gateway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37490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Calibri"/>
              </a:defRPr>
            </a:pPr>
            <a:r>
              <a:t>Async Routing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46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18CF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2926080"/>
            <a:ext cx="1554480" cy="137160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0" y="30632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0F0F5"/>
                </a:solidFill>
                <a:latin typeface="Calibri"/>
              </a:defRPr>
            </a:pPr>
            <a:r>
              <a:t>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3474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Calibri"/>
              </a:defRPr>
            </a:pPr>
            <a:r>
              <a:t>Devin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37490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Calibri"/>
              </a:defRPr>
            </a:pPr>
            <a:r>
              <a:t>Session Creation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3246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18CF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0" y="2926080"/>
            <a:ext cx="1554480" cy="137160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0" y="30632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0F0F5"/>
                </a:solidFill>
                <a:latin typeface="Calibri"/>
              </a:defRPr>
            </a:pPr>
            <a:r>
              <a:t>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3474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Calibri"/>
              </a:defRPr>
            </a:pPr>
            <a:r>
              <a:t>GitHub PR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37490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Calibri"/>
              </a:defRPr>
            </a:pPr>
            <a:r>
              <a:t>Verified Fix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97280" y="4754880"/>
            <a:ext cx="4754880" cy="155448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5880" y="4937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52578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Payload Intelligence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55778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Extracts vulnerability type, file path, tool name, and alert URL from the CodeQL schema. Builds a structured DevSecOps prompt with exact PR title conventions.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754880"/>
            <a:ext cx="4754880" cy="155448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937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52578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Safety by Design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55778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HMAC-SHA256 signature verification. Async non-blocking I/O. Action filtering ensures only 'created' and 'reopened' alerts are processed.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Calibri"/>
              </a:defRPr>
            </a:pPr>
            <a:r>
              <a:t>AUTONOMOUS SECURITY REMEDIATION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20095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Calibri"/>
              </a:defRPr>
            </a:pPr>
            <a:r>
              <a:t>04 / 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18CF8"/>
                </a:solidFill>
                <a:latin typeface="Calibri"/>
              </a:defRPr>
            </a:pPr>
            <a: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0F0F5"/>
                </a:solidFill>
                <a:latin typeface="Calibri"/>
              </a:defRPr>
            </a:pPr>
            <a:r>
              <a:t>What This Unlocks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783080"/>
            <a:ext cx="45720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2286000"/>
            <a:ext cx="3017520" cy="14630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5146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18CF8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004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B7280"/>
                </a:solidFill>
                <a:latin typeface="Calibri"/>
              </a:defRPr>
            </a:pPr>
            <a:r>
              <a:t>ENGINEER HOURS PER ALERT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286000"/>
            <a:ext cx="3017520" cy="14630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5146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18CF8"/>
                </a:solidFill>
                <a:latin typeface="Calibri"/>
              </a:defRPr>
            </a:pPr>
            <a:r>
              <a:t>&lt;5m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2004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B7280"/>
                </a:solidFill>
                <a:latin typeface="Calibri"/>
              </a:defRPr>
            </a:pPr>
            <a:r>
              <a:t>ALERT TO PULL REQUEST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286000"/>
            <a:ext cx="3017520" cy="14630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5146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18CF8"/>
                </a:solidFill>
                <a:latin typeface="Calibri"/>
              </a:defRPr>
            </a:pPr>
            <a:r>
              <a:t>05 / 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2004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B7280"/>
                </a:solidFill>
                <a:latin typeface="Calibri"/>
              </a:defRPr>
            </a:pPr>
            <a:r>
              <a:t>COVERAGE WINDOW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4206240"/>
            <a:ext cx="3017520" cy="19202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389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7091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Reclaimed Capacity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02920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Engineers stay on green-field feature work. Brown-field security maintenance runs in the background.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4206240"/>
            <a:ext cx="3017520" cy="19202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0600" y="4389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47091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Reduced MTTR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502920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Mean time to remediation drops from days to minutes. No triage queue, no context switching.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206240"/>
            <a:ext cx="3017520" cy="19202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4389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47091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502920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Every fix is a traceable PR linked to the original CodeQL alert. Full provenance for compliance reviews.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Calibri"/>
              </a:defRPr>
            </a:pPr>
            <a:r>
              <a:t>AUTONOMOUS SECURITY REMEDIATION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20095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Calibri"/>
              </a:defRPr>
            </a:pPr>
            <a:r>
              <a:t>05 /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31520"/>
            <a:ext cx="121916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818CF8"/>
                </a:solidFill>
                <a:latin typeface="Calibri"/>
              </a:defRPr>
            </a:pPr>
            <a:r>
              <a:t>LIVE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9728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F0F0F5"/>
                </a:solidFill>
                <a:latin typeface="Calibri"/>
              </a:defRPr>
            </a:pPr>
            <a:r>
              <a:t>The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867247" y="1783080"/>
            <a:ext cx="45720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981047" y="2286000"/>
            <a:ext cx="8229600" cy="2926080"/>
          </a:xfrm>
          <a:prstGeom prst="roundRect">
            <a:avLst/>
          </a:prstGeom>
          <a:solidFill>
            <a:srgbClr val="16161F"/>
          </a:solidFill>
          <a:ln w="25400">
            <a:solidFill>
              <a:srgbClr val="3D3F7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81047" y="32004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6B7280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1047" y="3931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Live demo — CodeQL alert triggers autonomous remediation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8047" y="5486400"/>
            <a:ext cx="2286000" cy="5486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5207" y="5596128"/>
            <a:ext cx="274320" cy="27432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5207" y="55961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5247" y="55961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Calibri"/>
              </a:defRPr>
            </a:pPr>
            <a:r>
              <a:t>CodeQL detects vulnerability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4047" y="5532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18CF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1247" y="5486400"/>
            <a:ext cx="2286000" cy="5486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18407" y="5596128"/>
            <a:ext cx="274320" cy="27432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18407" y="55961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8447" y="55961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Calibri"/>
              </a:defRPr>
            </a:pPr>
            <a:r>
              <a:t>Webhook hits FastAPI gateway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67247" y="5532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18CF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4447" y="5486400"/>
            <a:ext cx="2286000" cy="5486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5596128"/>
            <a:ext cx="274320" cy="27432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55961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1647" y="55961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Calibri"/>
              </a:defRPr>
            </a:pPr>
            <a:r>
              <a:t>Devin session spins 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0447" y="5532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18CF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7647" y="5486400"/>
            <a:ext cx="2286000" cy="5486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04807" y="5596128"/>
            <a:ext cx="274320" cy="27432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04807" y="55961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4847" y="55961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Calibri"/>
              </a:defRPr>
            </a:pPr>
            <a:r>
              <a:t>PR opened with fix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Calibri"/>
              </a:defRPr>
            </a:pPr>
            <a:r>
              <a:t>AUTONOMOUS SECURITY REMEDIATION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20095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Calibri"/>
              </a:defRPr>
            </a:pPr>
            <a:r>
              <a:t>06 /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18CF8"/>
                </a:solidFill>
                <a:latin typeface="Calibri"/>
              </a:defRPr>
            </a:pPr>
            <a:r>
              <a:t>CLOSING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0F0F5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783080"/>
            <a:ext cx="45720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Calibri"/>
              </a:defRPr>
            </a:pPr>
            <a:r>
              <a:t>Security is no longer a queue. It is a closed-loop system that detects, dispatches,</a:t>
            </a:r>
            <a:br/>
            <a:r>
              <a:t>remediates, and delivers — without pulling a single engineer off their roadmap.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200400"/>
            <a:ext cx="4754880" cy="182880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33832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370332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Detect &amp; 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4023360"/>
            <a:ext cx="4297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CodeQL scans run on every push. Alerts fire webhooks in real time. The gateway validates, extracts metadata, and dispatches to Devin within seconds.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200400"/>
            <a:ext cx="4754880" cy="182880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33832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70332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Remediate &amp; Deliver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4023360"/>
            <a:ext cx="4297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Devin clones the repo, analyzes the vulnerability pattern, applies the fix, runs tests, and opens a PR titled 'Fix: [Vulnerability Name]'.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5394960"/>
            <a:ext cx="9875520" cy="82296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532120"/>
            <a:ext cx="9326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0F0F5"/>
                </a:solidFill>
                <a:latin typeface="Calibri"/>
              </a:rPr>
              <a:t>"We turned security from a </a:t>
            </a:r>
            <a:r>
              <a:rPr sz="1400" b="1">
                <a:solidFill>
                  <a:srgbClr val="F87171"/>
                </a:solidFill>
                <a:latin typeface="Calibri"/>
              </a:rPr>
              <a:t>reactive interrupt</a:t>
            </a:r>
            <a:r>
              <a:rPr sz="1400" b="0">
                <a:solidFill>
                  <a:srgbClr val="F0F0F5"/>
                </a:solidFill>
                <a:latin typeface="Calibri"/>
              </a:rPr>
              <a:t> into a </a:t>
            </a:r>
            <a:r>
              <a:rPr sz="1400" b="1">
                <a:solidFill>
                  <a:srgbClr val="34D399"/>
                </a:solidFill>
                <a:latin typeface="Calibri"/>
              </a:rPr>
              <a:t>proactive utility</a:t>
            </a:r>
            <a:r>
              <a:rPr sz="1400" b="0">
                <a:solidFill>
                  <a:srgbClr val="F0F0F5"/>
                </a:solidFill>
                <a:latin typeface="Calibri"/>
              </a:rPr>
              <a:t>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Calibri"/>
              </a:defRPr>
            </a:pPr>
            <a:r>
              <a:t>AUTONOMOUS SECURITY REMEDIATION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Calibri"/>
              </a:defRPr>
            </a:pPr>
            <a: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18CF8"/>
                </a:solidFill>
                <a:latin typeface="Calibri"/>
              </a:defRPr>
            </a:pPr>
            <a:r>
              <a:t>THE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0F0F5"/>
                </a:solidFill>
                <a:latin typeface="Calibri"/>
              </a:defRPr>
            </a:pPr>
            <a:r>
              <a:t>The Path to Implementation: A Collaborative Pilot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783080"/>
            <a:ext cx="45720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Calibri"/>
              </a:defRPr>
            </a:pPr>
            <a:r>
              <a:t>Today is a successful proof of concept. Here is how we turn it into production value — together, and grounded in your own ROI.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383280"/>
            <a:ext cx="3200400" cy="210312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3566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3886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Collaborative Selection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420624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We sit down with your team to select 3–4 direct use cases and the specific pain points unique to your organization.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3383280"/>
            <a:ext cx="3200400" cy="210312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3566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3886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Targeted Proof of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420624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We run a focused pilot with Devin over several weeks to tackle those exact issues inside your own environment.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3383280"/>
            <a:ext cx="3200400" cy="210312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566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3886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Measured Scale-Up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20624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We evaluate concrete ROI results and use those findings to confidently roll Devin out to more developers and broader use cases.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Calibri"/>
              </a:defRPr>
            </a:pPr>
            <a:r>
              <a:t>AUTONOMOUS SECURITY REMEDIATION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Calibri"/>
              </a:defRPr>
            </a:pPr>
            <a:r>
              <a:t>08 / 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700000"/>
            <a:ext cx="100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9CA3AF"/>
                </a:solidFill>
              </a:rPr>
              <a:t>This is not a handoff — our team works hand-in-hand with your engineers to ensure seamless workflow integration.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121916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818CF8"/>
                </a:solidFill>
                <a:latin typeface="Calibri"/>
              </a:defRPr>
            </a:pPr>
            <a: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474720"/>
            <a:ext cx="7619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A3AF"/>
                </a:solidFill>
                <a:latin typeface="Calibri"/>
              </a:defRPr>
            </a:pPr>
            <a:r>
              <a:t>Let's discuss the architecture, the tradeoffs,</a:t>
            </a:r>
            <a:br/>
            <a:r>
              <a:t>and what comes next.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4572000"/>
            <a:ext cx="7619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Torrance Fredell  ·  github.com/torrancefredell/superset-demo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Calibri"/>
              </a:defRPr>
            </a:pPr>
            <a:r>
              <a:t>AUTONOMOUS SECURITY REMEDIATION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Calibri"/>
              </a:defRPr>
            </a:pPr>
            <a:r>
              <a:t>09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